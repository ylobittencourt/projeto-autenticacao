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Apresentação do tema: autenticação de usuários em uma API REST com JWT, usando Spring Boot no backend e Angular no frontend. Essa sequência colorida é um token real gerado pelo nosso backend: vermelho é o header, roxo o payload e azul a assinatura. Essas três cores acompanham a apresentação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A apresentação segue o que foi pedido: primeiro o conceito de autenticação com JWT, depois a solução desenvolvida, a demonstração ao vivo e o fechamento com testes e boas práticas.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 Primeira parte: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O protocolo HTTP é stateless: cada requisição chega sem memória das anteriores. Sem um mecanismo, precisaríamos mandar e-mail e senha em toda chamada — inseguro, porque a senha trafega o tempo todo, e caro, porque o BCrypt é propositalmente lento. A solução: validar a senha uma única vez e entregar ao cliente uma credencial temporária, o Access Token. É exatamente o que o enunciado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Dois conceitos que costumam ser confundidos. Autenticação responde "quem é você?" — no nosso sistema acontece no login, com e-mail e senha. Autorização responde "o que você pode fazer?" — acontece em toda requisição, e no nosso caso a regra é: qualquer rota além do login exige estar autenticado. O JWT carrega a identidade (sub) e os perfis (roles), servindo às duas coisas.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Na sessão tradicional o servidor guarda o estado e o cliente leva só um ID em cookie. Com JWT o estado vai dentro do token, assinado — a API fica stateless e qualquer instância valida o token só com a chave. A contrapartida é a revogação: o token vale até expirar. Por isso usamos expiração curta, de 1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JWT é um padrão da IETF, a RFC 7519. É um JSON compacto e assinado. Três números para guardar: três partes; codificação Base64URL — ou seja, qualquer um consegue LER o conteúdo; e a assinatura, que no nosso projeto é HMAC-SHA256.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Este é o token real que o backend gera no login. O header diz o algoritmo. O payload tem as claims: sub é o e-mail, roles são os perfis, iat quando foi emitido e exp quando expira. Repare que a senha NÃO está no token. A assinatura é o HMAC-SHA256 do header e do payload com a chave secreta, que só o servidor conhece. Dica: dá para colar o token em jwt.io e ver isso decodificado.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As claims são os campos do payload. Sub, iat e exp são claims registradas pela RFC; roles é uma claim nossa, com os perfis do usuário. Regra de ouro: o payload é apenas codificado em Base64, então nunca colocamos senha ou dados sensíveis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A segurança do JWT está na assinatura. Se alguém trocar ROLE_USER por ROLE_ADMIN no payload, o servidor recalcula a assinatura, ela não bate, e a resposta é 401. Sem a chave secreta é impossível gerar uma assinatura válida. E a expiração também é verificada: token vencido é recusado. Temos testes automatizados para esses dois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Este é o fluxo exato do enunciado. O usuário digita e-mail e senha, o Angular chama POST /auth/login, o Spring valida as credenciais com BCrypt e o backend gera o JWT. O Angular guarda o token e, em cada requisição protegida, envia apenas o header Authorization: Bearer. A senha nunca mais é enviada.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 Segunda parte: a solução que desenvolvemos.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Visão geral. O frontend Angular roda na porta 4200 e conversa com o backend Spring Boot na porta 8080 via HTTP e JSON, enviando o JWT no header. Cada lado tem cinco peças principais, que veremos a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 O código está organizado por responsabilidade: configurações de segurança, controllers, serviço de JWT, tratamento de exceções e DTOs no backend; componentes, serviços e guards no frontend. Tudo está no repositório com README explicando como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O mesmo fluxo em diagrama de sequência. Parte de cima, só no login: o Angular chama o AuthController, que pede ao AuthenticationManager para validar a senha com BCrypt e ao JwtService para gerar o token, devolvido ao Angular. Parte de baixo, em toda requisição protegida: o JwtAuthenticationFilter intercepta, pede ao JwtService para validar assinatura e expiração, e a requisição segue com o usuário autenticado — ou volta 401.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A configuração central. STATELESS: o Spring não cria sessão. CSRF desabilitado porque não usamos cookie de sessão — o token vai no header, que o navegador não envia sozinho. Só o login é público; o resto exige autenticação. O AuthenticationEntryPoint responde 401 em JSON (o padrão seria 403). E registramos nosso filtro JWT antes do filtro padrão de usuário e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A senha nunca é armazenada em texto puro. O BCrypt gera um hash com salt aleatório e custo configurável — é lento de propósito, para dificultar ataques de força bruta. Esse é mais um motivo para não validar a senha em toda requisição: fazemos isso só no login e depois usamos o token. O hash mostrado é um exemplo do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O único endpoint que recebe a senha. @Valid valida o formato — e-mail inválido ou campo vazio retornam 400. O AuthenticationManager busca o usuário e compara a senha com o hash BCrypt. Se estiver errada, lança BadCredentialsException, que o GlobalExceptionHandler transforma em 401 com mensagem genérica — não revelamos se o erro foi no e-mail ou na senha. Se estiver certa, geramos o token e devolvemos com o tipo e a validade.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Usamos a biblioteca JJWT. Para gerar: subject com o e-mail, a claim roles, data de emissão, expiração de 1 hora e assinatura HS256. A chave vem do application.properties e pode ser trocada pela variável de ambiente JWT_SECRET sem mexer no código. Para validar: o parser verifica assinatura E expiração de uma vez; qualquer problema vira JwtException e retornamos vazio.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O coração da autenticação por token. Em toda requisição o filtro procura o header Authorization com o prefixo Bearer. Se o token for válido, extrai o e-mail e os perfis e coloca no SecurityContext — o controller recebe o usuário pronto. O filtro não consulta banco nem senha: tudo vem do token assinado. Se o token não existir ou for inválido, o filtro só segue e o Spring devolve 401.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[2:00] No Angular, o AuthService faz o POST de login e guarda o token. O interceptor funcional realiza o "Angular usa o token": adiciona Authorization: Bearer em toda requisição para o nosso backend — exceto no próprio login e nunca para outros domínios. Se a API responder 401, ele limpa o token e volta ao login. O guard protege a rota /home: lê a claim exp e só deixa entrar com token válido. Como o Angular 22 é zoneless, usamos signals para atualizar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Cada caso responde o status correto, sempre em JSON, e o frontend reage a cada um. Isso deixa a API previsível e a experiência clara para 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 Terceira parte: demonstração ao vivo. Deixar backend (8080) e frontend (4200) rodando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[5:00] ROTEIRO (backend na 8080 e frontend na 4200 já rodando): 1) digitar senha errada e mostrar a mensagem. 2) entrar com aluno@email.com / 123456 e mostrar a área protegida. 3) F12 &gt; Network, clicar em "Chamar /api/me novamente" e mostrar o header Authorization: Bearer — e que a senha não aparece. 4) F12 &gt; Application &gt; Local Storage: alterar um caractere do token e chamar /api/me: 401 e volta ao login. 5) logar de novo, clicar em Sair e tentar abrir /home pela URL. Opcional: colar o token em jwt.io.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 Última parte: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Todo o fluxo é coberto por testes. No backend, testes de integração com MockMvc sobem a aplicação real e verificam cada status. No frontend, Vitest cobre o interceptor, os guards e o componente de login. E testamos ponta a ponta em navegador real com os dois servidores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O que já aplicamos e o que faríamos num sistema real. Destaque para o armazenamento: localStorage é simples e atende o trabalho, mas é acessível por JavaScript — um ataque XSS poderia ler o token. Em produção, a alternativa é cookie HttpOnly com refresh token: access token de vida curta e renovação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Resumindo: a senha é usada apenas no login; o backend gera um JWT assinado e todas as requisições protegidas usam somente esse Access Token. API stateless, token com assinatura e expiração, e Angular com interceptor e guard. Obrigado — abrimos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consulta após 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731520" cy="731520"/>
          </a:xfrm>
          <a:prstGeom prst="ellipse">
            <a:avLst/>
          </a:prstGeom>
          <a:solidFill>
            <a:srgbClr val="A83BE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" y="784555"/>
            <a:ext cx="351130" cy="3511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89320" y="50292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242A4D"/>
          </a:solidFill>
          <a:ln w="19050">
            <a:solidFill>
              <a:srgbClr val="00A6D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172200" y="6126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217920" y="886968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242A4D"/>
          </a:solidFill>
          <a:ln w="19050">
            <a:solidFill>
              <a:srgbClr val="A83B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400800" y="9966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46520" y="1271016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242A4D"/>
          </a:solidFill>
          <a:ln w="19050">
            <a:solidFill>
              <a:srgbClr val="E011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629400" y="13807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655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alg: HS256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600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957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+ Angular — conceito e solução desenvolvida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Társis  ·  Desenvolvimento Web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30 MINUTOS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apresentação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8046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4173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7099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Stateless, autenticação × autorização, sessão × token, anatomia e assinatura do JWT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98080" y="152704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0115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0" y="1527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148840"/>
            <a:ext cx="8046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22585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2402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53288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Spring Security, JwtService, filtro, Angular (service, interceptor, guard)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23500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A83B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23500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8046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1520" y="308152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35584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rota protegida, token no header, token adulterado e logout ao vivo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98080" y="31729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0A6D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31729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8046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31520" y="390448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3886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41788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automatizados, boas práticas de segurança, conclusão e perguntas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498080" y="3995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9E6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0" y="3995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120640" y="82296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242A4D"/>
          </a:solidFill>
          <a:ln w="12700">
            <a:solidFill>
              <a:srgbClr val="2E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94960" y="1097280"/>
            <a:ext cx="548640" cy="54864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7606" y="123992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2161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parte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745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precisamos de tokens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× autorização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× token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e claims do JWT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assinatura protege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não lembra quem você é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requisição HTTP é independente (stateless). Depois do login, como o servidor sabe quem está chamando /api/me?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30552"/>
            <a:ext cx="502920" cy="50292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261311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Reenviar a senha sempre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trafega em toda requisição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a cada chamada (lento de propósito)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precisa guardar a senha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92024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92040" y="2130552"/>
            <a:ext cx="502920" cy="50292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2261311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3212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uma vez, depois token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28346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só no POST /auth/login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devolve um Access Token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Requisições seguintes enviam só o token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CONCEITOS DIFERENTES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× Autorização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9319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536192"/>
            <a:ext cx="548640" cy="54864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678838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856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você?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3774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Provar a identidade (e-mail + senha)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Acontece uma vez, no POST /auth/login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o JWT com o "sub" do usuário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3886200"/>
            <a:ext cx="3383280" cy="384048"/>
          </a:xfrm>
          <a:prstGeom prst="roundRect">
            <a:avLst>
              <a:gd name="adj" fmla="val 14286"/>
            </a:avLst>
          </a:prstGeom>
          <a:solidFill>
            <a:srgbClr val="EEF0F7"/>
          </a:solidFill>
          <a:ln w="12700">
            <a:solidFill>
              <a:srgbClr val="EEF0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886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AuthenticationManager + BCrypt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1325880"/>
            <a:ext cx="39319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92040" y="1536192"/>
            <a:ext cx="548640" cy="548640"/>
          </a:xfrm>
          <a:prstGeom prst="ellipse">
            <a:avLst/>
          </a:prstGeom>
          <a:solidFill>
            <a:srgbClr val="A83BE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86" y="1678838"/>
            <a:ext cx="263347" cy="26334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577840" y="1856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pode fazer?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937760" y="23774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o acesso a cada rota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Acontece em toda requisição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os perfis do token (ROLE_USER)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937760" y="3886200"/>
            <a:ext cx="3383280" cy="384048"/>
          </a:xfrm>
          <a:prstGeom prst="roundRect">
            <a:avLst>
              <a:gd name="adj" fmla="val 14286"/>
            </a:avLst>
          </a:prstGeom>
          <a:solidFill>
            <a:srgbClr val="EEF0F7"/>
          </a:solidFill>
          <a:ln w="12700">
            <a:solidFill>
              <a:srgbClr val="EEF0F7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74920" y="3886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.anyRequest().authenticated()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ABORDAGENS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no servidor × Token no cliente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Sessão (cookie JSESSIONID)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JWT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3B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fica o 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/ banco do servidor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do próprio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cliente envia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Cookie com o ID da sessão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Authorization: Bearer &lt;jwt&gt;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servidores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Precisam compartilhar sessões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Qualquer um valida com a chave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 e mobile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cookies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com qualquer cliente HTTP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Logout / revogação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Fácil: apaga a sessão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até expirar (por isso: 1 hora)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 · RFC 7519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JWT?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aberto para transmitir informações entre duas partes como um objeto JSON </a:t>
            </a:r>
            <a:pPr indent="0" marL="0">
              <a:buNone/>
            </a:pPr>
            <a:r>
              <a:rPr lang="en-US" sz="16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compacto</a:t>
            </a:r>
            <a:pPr indent="0" marL="0">
              <a:buNone/>
            </a:pPr>
            <a:r>
              <a:rPr lang="en-US" sz="16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600" b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assinado digitalmente</a:t>
            </a:r>
            <a:pPr indent="0" marL="0">
              <a:buNone/>
            </a:pPr>
            <a:r>
              <a:rPr lang="en-US" sz="16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cabe em um header HTTP e pode ser verificado sem consultar banco de dados.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separadas por ponto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header.payload.signature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Base64URL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codificação, não criptografia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consegue ler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219456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1792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HS256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assinatura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com SHA-256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. PAYLOAD . SIGNATURE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 token do nosso sistema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7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7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A4D"/>
          </a:solidFill>
          <a:ln w="19050">
            <a:solidFill>
              <a:srgbClr val="E011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"alg": "HS256"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algoritmo assinou o token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87452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A4D"/>
          </a:solidFill>
          <a:ln w="19050">
            <a:solidFill>
              <a:srgbClr val="A83B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· claims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7744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"sub": "aluno@email.com",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"roles": ["ROLE_USER"],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"iat": 1790537901,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"exp": 1790541501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o usuário e até quando vale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87452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242A4D"/>
          </a:solidFill>
          <a:ln w="19050">
            <a:solidFill>
              <a:srgbClr val="00A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37744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HMACSHA256(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base64(header) + "." 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base64(payload),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chave_secreta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que nada foi alterado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TOKEN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Claims: o que vai dentro do payload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0604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nosso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83B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— dono do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aluno@email.com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83B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roles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personalizada com os perfis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["ROLE_USER"]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83B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iat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Issued at — quando foi emitido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hora do login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83B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Expiration — até quando é válido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2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iat + 1 hora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11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senha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011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NUNCA vai para o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011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(não existe)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263640" y="1325880"/>
            <a:ext cx="2331720" cy="2852928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0" y="1508760"/>
            <a:ext cx="502920" cy="502920"/>
          </a:xfrm>
          <a:prstGeom prst="ellipse">
            <a:avLst/>
          </a:prstGeom>
          <a:solidFill>
            <a:srgbClr val="D98A0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1559" y="1639519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0" y="2148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25146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payload é apenas codificado. Tudo que estiver nele pode ser lido por quem tiver o token.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HMAC-SHA256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ninguém consegue falsificar?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874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161A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11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assina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042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HMAC(dados, chave)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41448" y="2121408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06040" y="1325880"/>
            <a:ext cx="1874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88920" y="1481328"/>
            <a:ext cx="411480" cy="411480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8892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2011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altera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23042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"ROLE_USER" → "ROLE_ADMIN"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98848" y="2121408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1325880"/>
            <a:ext cx="1874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481328"/>
            <a:ext cx="411480" cy="411480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011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recalcula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3042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assinatura ≠ assinatura do token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56248" y="2121408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20840" y="1325880"/>
            <a:ext cx="1874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03720" y="1481328"/>
            <a:ext cx="411480" cy="411480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0372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011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23042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401 Unauthorized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15468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456432"/>
            <a:ext cx="219456" cy="21945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32588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chave fica só no servidor</a:t>
            </a:r>
            <a:endParaRPr lang="en-US" sz="145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3703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 chave é impossível gerar uma assinatura válida. Configurável por JWT_SECRET.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663440" y="315468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4846320" y="3337560"/>
            <a:ext cx="457200" cy="45720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3456432"/>
            <a:ext cx="219456" cy="219456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544068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Expiração também é verificada</a:t>
            </a:r>
            <a:endParaRPr lang="en-US" sz="145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3703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"exp" já passou, o token é recusado mesmo com assinatura correta.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LOGIN À REQUISIÇÃO PROTEGIDA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completo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777240" cy="777240"/>
          </a:xfrm>
          <a:prstGeom prst="ellipse">
            <a:avLst/>
          </a:prstGeom>
          <a:solidFill>
            <a:srgbClr val="161A3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1527962"/>
            <a:ext cx="373075" cy="3730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2128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 e-mail e senha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783080" y="1709928"/>
            <a:ext cx="320040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60320" y="1325880"/>
            <a:ext cx="777240" cy="77724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402" y="15279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0" y="22128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19456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429000" y="1709928"/>
            <a:ext cx="320040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206240" y="1325880"/>
            <a:ext cx="777240" cy="77724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152796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840480" y="22128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84048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credenciais (BCrypt)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074920" y="1709928"/>
            <a:ext cx="320040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5852160" y="1325880"/>
            <a:ext cx="777240" cy="777240"/>
          </a:xfrm>
          <a:prstGeom prst="ellipse">
            <a:avLst/>
          </a:prstGeom>
          <a:solidFill>
            <a:srgbClr val="A83BE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242" y="1527962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22128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o JWT assinado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720840" y="1709928"/>
            <a:ext cx="320040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498080" y="1325880"/>
            <a:ext cx="777240" cy="77724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0162" y="1527962"/>
            <a:ext cx="373075" cy="37307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132320" y="22128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132320" y="25146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 usa o token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3154680"/>
            <a:ext cx="8046720" cy="1417320"/>
          </a:xfrm>
          <a:prstGeom prst="roundRect">
            <a:avLst>
              <a:gd name="adj" fmla="val 5161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48640" y="3227832"/>
            <a:ext cx="80467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48640" y="3154680"/>
            <a:ext cx="80467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327355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34" name="Shape 27"/>
          <p:cNvSpPr/>
          <p:nvPr/>
        </p:nvSpPr>
        <p:spPr>
          <a:xfrm>
            <a:off x="841248" y="327355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35" name="Shape 28"/>
          <p:cNvSpPr/>
          <p:nvPr/>
        </p:nvSpPr>
        <p:spPr>
          <a:xfrm>
            <a:off x="996696" y="327355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1234440" y="321868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requisições seguintes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49808" y="36118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/api/me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Bearer eyJhbGciOiJIUzI1NiJ9.eyJzdWIiOiJhbHVub0BlbWFpbC5jb20i...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senha NÃO é reenviada — só o Access Token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120640" y="82296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242A4D"/>
          </a:solidFill>
          <a:ln w="12700">
            <a:solidFill>
              <a:srgbClr val="2E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94960" y="1097280"/>
            <a:ext cx="548640" cy="548640"/>
          </a:xfrm>
          <a:prstGeom prst="ellipse">
            <a:avLst/>
          </a:prstGeom>
          <a:solidFill>
            <a:srgbClr val="A83BE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7606" y="123992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2161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parte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745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estrutura do projeto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sequência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Security, BCrypt e login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JwtService e filtro JWT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Angular: service, interceptor e guard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da solução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4290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463040"/>
            <a:ext cx="502920" cy="50292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5937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Angular 22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1945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LoginComponent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048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 reativo com validação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6517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AuthService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862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token, expiração, logout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1089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authInterceptor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192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o Bearer e trata 401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5661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authGuard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7764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/home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0233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HomeComponent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33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/api/me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66360" y="1280160"/>
            <a:ext cx="34290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394960" y="1463040"/>
            <a:ext cx="502920" cy="50292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719" y="1593799"/>
            <a:ext cx="241402" cy="24140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0350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Spring Boot 4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440680" y="21945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SecurityConfig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440680" y="24048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regras, stateless, BCrypt, 401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440680" y="26517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AuthController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5440680" y="2862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440680" y="31089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JwtService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440680" y="33192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e valida tokens (JJWT)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440680" y="35661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JwtAuthenticationFilter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5440680" y="37764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Bearer a cada requisição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440680" y="402336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GlobalExceptionHandler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440680" y="4233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em JSON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023360" y="2514600"/>
            <a:ext cx="1097280" cy="0"/>
          </a:xfrm>
          <a:prstGeom prst="line">
            <a:avLst/>
          </a:prstGeom>
          <a:noFill/>
          <a:ln w="25400">
            <a:solidFill>
              <a:srgbClr val="A83BE8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4023360" y="3337560"/>
            <a:ext cx="1097280" cy="0"/>
          </a:xfrm>
          <a:prstGeom prst="line">
            <a:avLst/>
          </a:prstGeom>
          <a:noFill/>
          <a:ln w="25400">
            <a:solidFill>
              <a:srgbClr val="00A6DB"/>
            </a:solidFill>
            <a:prstDash val="solid"/>
            <a:headEnd type="triangle"/>
          </a:ln>
        </p:spPr>
      </p:sp>
      <p:sp>
        <p:nvSpPr>
          <p:cNvPr id="36" name="Text 32"/>
          <p:cNvSpPr txBox="1"/>
          <p:nvPr/>
        </p:nvSpPr>
        <p:spPr>
          <a:xfrm>
            <a:off x="3977640" y="26974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+ JSON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3977640" y="29260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Bearer JWT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3977640" y="35204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:4200 → :8080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DO CÓDIGO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projeto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 Boot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backend/.../authapi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SecurityConfig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JwtAuthenticationFilter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CorsConfig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controller/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AuthController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UsuarioController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service/JwtService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exception/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dto/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60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9" name="Shape 17"/>
          <p:cNvSpPr/>
          <p:nvPr/>
        </p:nvSpPr>
        <p:spPr>
          <a:xfrm>
            <a:off x="51114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492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Angular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864608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frontend/.../src/app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login/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home/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services/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auth.service.ts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auth.interceptor.ts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guards/auth.guard.ts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app.routes.ts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api.config.ts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ENTRE OS COMPONENTES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sequência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76072" y="1234440"/>
            <a:ext cx="1316736" cy="329184"/>
          </a:xfrm>
          <a:prstGeom prst="roundRect">
            <a:avLst>
              <a:gd name="adj" fmla="val 16667"/>
            </a:avLst>
          </a:prstGeom>
          <a:solidFill>
            <a:srgbClr val="E011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6072" y="123444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34440" y="1563624"/>
            <a:ext cx="0" cy="3063240"/>
          </a:xfrm>
          <a:prstGeom prst="line">
            <a:avLst/>
          </a:prstGeom>
          <a:noFill/>
          <a:ln w="12700">
            <a:solidFill>
              <a:srgbClr val="DADDE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249424" y="1234440"/>
            <a:ext cx="1316736" cy="329184"/>
          </a:xfrm>
          <a:prstGeom prst="roundRect">
            <a:avLst>
              <a:gd name="adj" fmla="val 16667"/>
            </a:avLst>
          </a:prstGeom>
          <a:solidFill>
            <a:srgbClr val="00A6D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49424" y="123444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JwtFilter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07792" y="1563624"/>
            <a:ext cx="0" cy="3063240"/>
          </a:xfrm>
          <a:prstGeom prst="line">
            <a:avLst/>
          </a:prstGeom>
          <a:noFill/>
          <a:ln w="12700">
            <a:solidFill>
              <a:srgbClr val="DADD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922776" y="1234440"/>
            <a:ext cx="1316736" cy="329184"/>
          </a:xfrm>
          <a:prstGeom prst="roundRect">
            <a:avLst>
              <a:gd name="adj" fmla="val 16667"/>
            </a:avLst>
          </a:prstGeom>
          <a:solidFill>
            <a:srgbClr val="1E9E6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22776" y="123444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AuthController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81144" y="1563624"/>
            <a:ext cx="0" cy="3063240"/>
          </a:xfrm>
          <a:prstGeom prst="line">
            <a:avLst/>
          </a:prstGeom>
          <a:noFill/>
          <a:ln w="12700">
            <a:solidFill>
              <a:srgbClr val="DADDE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596128" y="1234440"/>
            <a:ext cx="1316736" cy="329184"/>
          </a:xfrm>
          <a:prstGeom prst="roundRect">
            <a:avLst>
              <a:gd name="adj" fmla="val 16667"/>
            </a:avLst>
          </a:prstGeom>
          <a:solidFill>
            <a:srgbClr val="161A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96128" y="123444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AuthManager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54496" y="1563624"/>
            <a:ext cx="0" cy="3063240"/>
          </a:xfrm>
          <a:prstGeom prst="line">
            <a:avLst/>
          </a:prstGeom>
          <a:noFill/>
          <a:ln w="12700">
            <a:solidFill>
              <a:srgbClr val="DADDE8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69480" y="1234440"/>
            <a:ext cx="1316736" cy="329184"/>
          </a:xfrm>
          <a:prstGeom prst="roundRect">
            <a:avLst>
              <a:gd name="adj" fmla="val 16667"/>
            </a:avLst>
          </a:prstGeom>
          <a:solidFill>
            <a:srgbClr val="A83B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69480" y="123444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JwtService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27848" y="1563624"/>
            <a:ext cx="0" cy="3063240"/>
          </a:xfrm>
          <a:prstGeom prst="line">
            <a:avLst/>
          </a:prstGeom>
          <a:noFill/>
          <a:ln w="12700">
            <a:solidFill>
              <a:srgbClr val="DADDE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234440" y="1874520"/>
            <a:ext cx="3346704" cy="0"/>
          </a:xfrm>
          <a:prstGeom prst="line">
            <a:avLst/>
          </a:prstGeom>
          <a:noFill/>
          <a:ln w="19050">
            <a:solidFill>
              <a:srgbClr val="5B6275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1307592" y="16459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/auth/login {email, senha}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81144" y="2267712"/>
            <a:ext cx="1673352" cy="0"/>
          </a:xfrm>
          <a:prstGeom prst="line">
            <a:avLst/>
          </a:prstGeom>
          <a:noFill/>
          <a:ln w="19050">
            <a:solidFill>
              <a:srgbClr val="5B6275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640580" y="2039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authenticate()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81144" y="2660904"/>
            <a:ext cx="3346704" cy="0"/>
          </a:xfrm>
          <a:prstGeom prst="line">
            <a:avLst/>
          </a:prstGeom>
          <a:noFill/>
          <a:ln w="19050">
            <a:solidFill>
              <a:srgbClr val="5B6275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654296" y="24323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generateToken(email, roles)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234440" y="3054096"/>
            <a:ext cx="3346704" cy="0"/>
          </a:xfrm>
          <a:prstGeom prst="line">
            <a:avLst/>
          </a:prstGeom>
          <a:noFill/>
          <a:ln w="19050">
            <a:solidFill>
              <a:srgbClr val="1E9E62"/>
            </a:solidFill>
            <a:prstDash val="dash"/>
            <a:head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307592" y="28254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{token, "Bearer", 3600}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234440" y="3447288"/>
            <a:ext cx="1673352" cy="0"/>
          </a:xfrm>
          <a:prstGeom prst="line">
            <a:avLst/>
          </a:prstGeom>
          <a:noFill/>
          <a:ln w="19050">
            <a:solidFill>
              <a:srgbClr val="5B6275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93876" y="32186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/api/me + Bearer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07792" y="3840480"/>
            <a:ext cx="5020056" cy="0"/>
          </a:xfrm>
          <a:prstGeom prst="line">
            <a:avLst/>
          </a:prstGeom>
          <a:noFill/>
          <a:ln w="19050">
            <a:solidFill>
              <a:srgbClr val="5B6275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2980944" y="3611880"/>
            <a:ext cx="4873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parseToken(): assinatura + exp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234440" y="4233672"/>
            <a:ext cx="1673352" cy="0"/>
          </a:xfrm>
          <a:prstGeom prst="line">
            <a:avLst/>
          </a:prstGeom>
          <a:noFill/>
          <a:ln w="19050">
            <a:solidFill>
              <a:srgbClr val="A83BE8"/>
            </a:solidFill>
            <a:prstDash val="dash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1293876" y="40050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ou 401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401568"/>
            <a:ext cx="8046720" cy="0"/>
          </a:xfrm>
          <a:prstGeom prst="line">
            <a:avLst/>
          </a:prstGeom>
          <a:noFill/>
          <a:ln w="9525">
            <a:solidFill>
              <a:srgbClr val="C9CD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1600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(uma vez)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34472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requisição protegida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SPRING SECURITY 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SecurityConfig: as regras do jogo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512064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512064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config/SecurityConfig.java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.csrf(csrf -&gt; csrf.disable())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.sessionManagement(s -&gt; 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.sessionCreationPolicy(STATELESS))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.authorizeHttpRequests(auth -&gt; auth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.requestMatchers(POST, "/auth/login")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.permitAll()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.anyRequest().authenticated())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.exceptionHandling(ex -&gt; ex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.authenticationEntryPoint(entryPoint))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.addFilterBefore(jwtAuthenticationFilter, ...);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0" y="1389888"/>
            <a:ext cx="201168" cy="201168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258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STATELESS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16367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sessão HTTP é criada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2212848"/>
            <a:ext cx="201168" cy="201168"/>
          </a:xfrm>
          <a:prstGeom prst="ellipse">
            <a:avLst/>
          </a:prstGeom>
          <a:solidFill>
            <a:srgbClr val="1E9E6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63640" y="21488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permitAll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4597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login é público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3035808"/>
            <a:ext cx="201168" cy="201168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63640" y="2971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2826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resto exige token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0" y="3858768"/>
            <a:ext cx="201168" cy="201168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3794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41056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token → 401 em JSON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PASSWORDENCODER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protegida com BCrypt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411480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411480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config/SecurityConfig.java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PasswordEncoder passwordEncoder() {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new BCryptPasswordEncoder();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56432"/>
            <a:ext cx="411480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383280"/>
            <a:ext cx="411480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50215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" y="350215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" y="350215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344728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usuário de demonstração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840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User.builder()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.username("aluno@email.com")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.password(encoder.encode("123456"))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280160"/>
            <a:ext cx="37033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120640" y="1481328"/>
            <a:ext cx="502920" cy="50292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1399" y="1612087"/>
            <a:ext cx="241402" cy="24140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76072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do hash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21031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$2a$</a:t>
            </a:r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10$</a:t>
            </a:r>
            <a:pPr indent="0" marL="0">
              <a:buNone/>
            </a:pPr>
            <a:r>
              <a:rPr lang="en-US" sz="110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N9qo8uLOickgx2ZMRZoMye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IjZAgcfl7p92ldGxad68LJZdL17lhWy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28803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$2a$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2880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algoritmo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10$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806440" y="3355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2¹⁰ rodadas (lento de propósito)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120640" y="383133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806440" y="38313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aleatório: mesma senha, hash diferente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AUTHCONTROLLER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/auth/login: validando a senha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512064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512064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controller/AuthController.java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@PostMapping("/login")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ResponseEntity&lt;LoginResponse&gt; login(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@Valid @RequestBody LoginRequest req) {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Authentication auth = authenticationManager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.authenticate(new UsernamePassword...(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req.email(), req.senha()));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token = jwtService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.generateToken(auth.getName(), roles);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ok(new LoginResponse(token, "Bearer", 3600));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97880" y="12801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08076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correta · 200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"token": "eyJ...",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"tokenType": "Bearer",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"expiresIn": 3600 }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97880" y="297180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080760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errada · 401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4747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"status": 401,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"erro": "E-mail ou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senha inválidos" }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BIBLIOTECA JJWT 0.13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JwtService: gerar e validar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 · generateToken()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Jwts.builder()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.subject(email)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.claim("roles", roles)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.issuedAt(agora)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.expiration(agora + 1h)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.signWith(key, HS256)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.compact();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60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9" name="Shape 17"/>
          <p:cNvSpPr/>
          <p:nvPr/>
        </p:nvSpPr>
        <p:spPr>
          <a:xfrm>
            <a:off x="51114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492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 · parseToken()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864608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Jwts.parser()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.verifyWith(key)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.build()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.parseSignedClaims(token);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Optional.of(claims);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(JwtException e) {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assinatura errada ou expirado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Optional.empty();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ONCEPERREQUESTFILTER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JwtAuthenticationFilter: a cada requisição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161A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header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774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&lt;token&gt;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41448" y="2194560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06040" y="128016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88920" y="1463040"/>
            <a:ext cx="457200" cy="457200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88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20574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o token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23774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+ expiração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(JwtService)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2194560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128016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463040"/>
            <a:ext cx="457200" cy="457200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0574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o usuário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3774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(sub) +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(roles)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56248" y="2194560"/>
            <a:ext cx="146304" cy="0"/>
          </a:xfrm>
          <a:prstGeom prst="line">
            <a:avLst/>
          </a:prstGeom>
          <a:noFill/>
          <a:ln w="25400">
            <a:solidFill>
              <a:srgbClr val="C9CD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20840" y="128016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03720" y="1463040"/>
            <a:ext cx="457200" cy="457200"/>
          </a:xfrm>
          <a:prstGeom prst="ellipse">
            <a:avLst/>
          </a:prstGeom>
          <a:solidFill>
            <a:srgbClr val="1E9E6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037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0574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23774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requisição fica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autenticada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333756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DEEF3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" y="3630168"/>
            <a:ext cx="640080" cy="64008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796589"/>
            <a:ext cx="307238" cy="30723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645920" y="35204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token, token adulterado ou expirado?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645920" y="385876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filtro não autentica ninguém: o Spring Security bloqueia a rota e o AuthenticationEntryPoint responde 401 em JSON. Nenhuma consulta a banco ou senha — tudo vem do token assinado.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ANGULAR 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Angular: service, interceptor e guard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services/auth.service.ts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3736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login(email, senha) {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http.post(API + "/auth/login",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email, senha })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.pipe(tap(r =&gt; localStorage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.setItem("access_token", r.token)));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09067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01752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13639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" y="313639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" y="313639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3081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guards/auth.guard.ts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747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authGuard = () =&gt;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auth.isAuthenticated()   // lê "exp"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E9E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true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router.createUrlTree(["/login"]);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353312"/>
            <a:ext cx="3931920" cy="274320"/>
          </a:xfrm>
          <a:prstGeom prst="rect">
            <a:avLst/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1280160"/>
            <a:ext cx="3931920" cy="182880"/>
          </a:xfrm>
          <a:prstGeom prst="roundRect">
            <a:avLst>
              <a:gd name="adj" fmla="val 40000"/>
            </a:avLst>
          </a:prstGeom>
          <a:solidFill>
            <a:srgbClr val="262B52"/>
          </a:solidFill>
          <a:ln w="12700">
            <a:solidFill>
              <a:srgbClr val="262B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1399032"/>
            <a:ext cx="100584" cy="100584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56048" y="1399032"/>
            <a:ext cx="100584" cy="100584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27" name="Shape 25"/>
          <p:cNvSpPr/>
          <p:nvPr/>
        </p:nvSpPr>
        <p:spPr>
          <a:xfrm>
            <a:off x="5111496" y="1399032"/>
            <a:ext cx="100584" cy="100584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349240" y="1344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services/auth.interceptor.ts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64608" y="173736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authInterceptor =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(req, next) =&gt; {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request = token &amp;&amp; isApi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!isLogin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req.clone({ setHeaders: {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Authorization: `Bearer ${token}`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}})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req;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next(request).pipe(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catchError(err =&gt; {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(err.status === 401) {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auth.logout();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router.navigate(["/login"]);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 ... }));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ERROS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situação, o status HTTP certo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365760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Angular faz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A3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com credenciais corretas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Guarda o token e vai para /home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vazio ou malformado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8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 a mensagem de validação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Senha ou e-mail errados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11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 "E-mail ou senha inválidos"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/api/me sem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11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guard nem deixa chegar lá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adulterado ou expirado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11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Interceptor limpa e volta ao login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fora do 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B62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Avisa que não conseguiu conectar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120640" y="82296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242A4D"/>
          </a:solidFill>
          <a:ln w="12700">
            <a:solidFill>
              <a:srgbClr val="2E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94960" y="1097280"/>
            <a:ext cx="548640" cy="54864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7606" y="123992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2161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parte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745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 senha errada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correto e área protegida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token no header (DevTools)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adulterado → 401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e rota bloqueada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 · LOCALHOST:4200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demonstração</a:t>
            </a:r>
            <a:endParaRPr lang="en-US" sz="2800" dirty="0"/>
          </a:p>
        </p:txBody>
      </p:sp>
      <p:pic>
        <p:nvPicPr>
          <p:cNvPr id="6" name="Image 0" descr="C:\Users\User\AppData\Local\Temp\claude\C--Users-User-Downloads-PROJETO-WEB-projeto-autenticacao\627a6f5d-f8e3-4a56-ac0a-22a0c932305e\scratchpad\crop-02-login-er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2935224" cy="3291840"/>
          </a:xfrm>
          <a:prstGeom prst="rect">
            <a:avLst/>
          </a:prstGeom>
        </p:spPr>
      </p:pic>
      <p:pic>
        <p:nvPicPr>
          <p:cNvPr id="7" name="Image 1" descr="C:\Users\User\AppData\Local\Temp\claude\C--Users-User-Downloads-PROJETO-WEB-projeto-autenticacao\627a6f5d-f8e3-4a56-ac0a-22a0c932305e\scratchpad\crop-03-area-protegi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234440"/>
            <a:ext cx="2423160" cy="3291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280160"/>
            <a:ext cx="365760" cy="365760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3550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12527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errada → erro na tela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355080" y="1938528"/>
            <a:ext cx="365760" cy="365760"/>
          </a:xfrm>
          <a:prstGeom prst="ellipse">
            <a:avLst/>
          </a:prstGeom>
          <a:solidFill>
            <a:srgbClr val="1E9E6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35508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0" y="191109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/home com dados do /api/me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55080" y="2596896"/>
            <a:ext cx="365760" cy="365760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355080" y="2596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0" y="256946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› Network: Authorization: Bearer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355080" y="3255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322783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o token → 401 → login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355080" y="3913632"/>
            <a:ext cx="365760" cy="365760"/>
          </a:xfrm>
          <a:prstGeom prst="ellipse">
            <a:avLst/>
          </a:prstGeom>
          <a:solidFill>
            <a:srgbClr val="161A33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35508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0" y="38862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→ /home bloqueada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E9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120640" y="82296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242A4D"/>
          </a:solidFill>
          <a:ln w="12700">
            <a:solidFill>
              <a:srgbClr val="2E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94960" y="1097280"/>
            <a:ext cx="548640" cy="54864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7606" y="123992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2161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parte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745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de segurança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e perguntas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11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A83B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eyJzdWIiOiJhbHVubyJ9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00A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wblW5oxViZWtzCpHE2I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de ponta a ponta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481328"/>
            <a:ext cx="502920" cy="50292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6120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9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no backend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+ MockMvc: login 200/400/401, token válido, adulterado e expirado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91840" y="128016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20440" y="1481328"/>
            <a:ext cx="502920" cy="502920"/>
          </a:xfrm>
          <a:prstGeom prst="ellipse">
            <a:avLst/>
          </a:prstGeom>
          <a:solidFill>
            <a:srgbClr val="E0115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161208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2044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400" dirty="0"/>
          </a:p>
        </p:txBody>
      </p:sp>
      <p:sp>
        <p:nvSpPr>
          <p:cNvPr id="16" name="Text 12"/>
          <p:cNvSpPr txBox="1"/>
          <p:nvPr/>
        </p:nvSpPr>
        <p:spPr>
          <a:xfrm>
            <a:off x="35204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no frontend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352044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Vitest: formulário de login, interceptor, guards e AuthService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035040" y="128016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263640" y="1481328"/>
            <a:ext cx="502920" cy="50292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399" y="1612087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6364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400" dirty="0"/>
          </a:p>
        </p:txBody>
      </p:sp>
      <p:sp>
        <p:nvSpPr>
          <p:cNvPr id="22" name="Text 17"/>
          <p:cNvSpPr txBox="1"/>
          <p:nvPr/>
        </p:nvSpPr>
        <p:spPr>
          <a:xfrm>
            <a:off x="6263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E2E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real: login, reload, token adulterado, logout e mobile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548640" y="416052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B1F3D"/>
          </a:solidFill>
          <a:ln w="12700">
            <a:solidFill>
              <a:srgbClr val="1B1F3D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7240" y="4160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./mvnw test</a:t>
            </a:r>
            <a:pPr indent="0" marL="0">
              <a:buNone/>
            </a:pPr>
            <a:r>
              <a:rPr lang="en-US" sz="1100" dirty="0">
                <a:solidFill>
                  <a:srgbClr val="E6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$ npx ng test --watch=false</a:t>
            </a:r>
            <a:pPr indent="0" marL="0">
              <a:buNone/>
            </a:pPr>
            <a:r>
              <a:rPr lang="en-US" sz="11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✓ todos passando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1E9E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581912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517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1488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com BCrypt, enviada só no login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HS256 + expiração de 1 hora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secreta via variável de ambiente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genérica em login inválido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enviado só para o próprio backend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4663440" y="128016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A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92040" y="1463040"/>
            <a:ext cx="457200" cy="457200"/>
          </a:xfrm>
          <a:prstGeom prst="ellipse">
            <a:avLst/>
          </a:prstGeom>
          <a:solidFill>
            <a:srgbClr val="A83BE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58191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0" y="1517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Evoluções para produção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1488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obrigatório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 para renovar a sessão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em vez de localStorage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 em banco de dados</a:t>
            </a:r>
            <a:endParaRPr lang="en-US" sz="15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tentativas de login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731520" cy="731520"/>
          </a:xfrm>
          <a:prstGeom prst="ellipse">
            <a:avLst/>
          </a:prstGeom>
          <a:solidFill>
            <a:srgbClr val="00A6D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" y="784555"/>
            <a:ext cx="351130" cy="3511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uma vez.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em todas as outras.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242A4D"/>
          </a:solidFill>
          <a:ln w="15875">
            <a:solidFill>
              <a:srgbClr val="E0115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11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stateless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502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+ JWT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310896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242A4D"/>
          </a:solidFill>
          <a:ln w="15875">
            <a:solidFill>
              <a:srgbClr val="A83B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assinado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3502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HS256 + expiração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0" y="310896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242A4D"/>
          </a:solidFill>
          <a:ln w="15875">
            <a:solidFill>
              <a:srgbClr val="00A6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2648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3502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+ guard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Perguntas?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com JWT  ·  Spring Boot + Angular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3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SABER MAIS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182880" cy="182880"/>
          </a:xfrm>
          <a:prstGeom prst="ellipse">
            <a:avLst/>
          </a:prstGeom>
          <a:solidFill>
            <a:srgbClr val="E011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1280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7519 — JSON Web Token (JWT)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28016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datatracker.ietf.org/doc/html/rfc7519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182880" cy="182880"/>
          </a:xfrm>
          <a:prstGeom prst="ellipse">
            <a:avLst/>
          </a:prstGeom>
          <a:solidFill>
            <a:srgbClr val="A83BE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jwt.io — introdução e decodificador de tokens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82880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jwt.io/introduction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487168"/>
            <a:ext cx="182880" cy="182880"/>
          </a:xfrm>
          <a:prstGeom prst="ellipse">
            <a:avLst/>
          </a:prstGeom>
          <a:solidFill>
            <a:srgbClr val="1E9E6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377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— documentação de referência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37744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docs.spring.io/spring-security/reference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182880" cy="182880"/>
          </a:xfrm>
          <a:prstGeom prst="ellipse">
            <a:avLst/>
          </a:prstGeom>
          <a:solidFill>
            <a:srgbClr val="00A6D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JJWT — biblioteca Java para JWT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9260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github.com/jwtk/jjwt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584448"/>
            <a:ext cx="182880" cy="182880"/>
          </a:xfrm>
          <a:prstGeom prst="ellipse">
            <a:avLst/>
          </a:prstGeom>
          <a:solidFill>
            <a:srgbClr val="161A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3474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— HTTP interceptors e route guards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47472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angular.dev/guide/http/interceptors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" y="4133088"/>
            <a:ext cx="182880" cy="182880"/>
          </a:xfrm>
          <a:prstGeom prst="ellipse">
            <a:avLst/>
          </a:prstGeom>
          <a:solidFill>
            <a:srgbClr val="D98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023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e README do projeto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02336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github.com/YloBittencourt/projeto-autenticacao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Autenticação com JWT — Spring Boot + Angular</dc:title>
  <dc:subject>PptxGenJS Presentation</dc:subject>
  <dc:creator>Társis</dc:creator>
  <cp:lastModifiedBy>Társis</cp:lastModifiedBy>
  <cp:revision>1</cp:revision>
  <dcterms:created xsi:type="dcterms:W3CDTF">2026-09-27T20:10:17Z</dcterms:created>
  <dcterms:modified xsi:type="dcterms:W3CDTF">2026-09-27T20:10:17Z</dcterms:modified>
</cp:coreProperties>
</file>